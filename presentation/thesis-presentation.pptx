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8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62D90A-D6D2-4D3F-937A-9E8B9ECD6F8F}">
  <a:tblStyle styleId="{6262D90A-D6D2-4D3F-937A-9E8B9ECD6F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8" name="Google Shape;258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66" name="Google Shape;2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74" name="Google Shape;274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RQ1: How does SNN inference performance degrade under tighter resource constraints?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Baseline (no limits)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Inference works, latency is stable and predictable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Small overhead from containerisation and HTTP stack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0.5 CPU / 512 MB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Latency increases drastically — nearly two orders of magnitude higher than baseline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Throughput drops to almost nothing — impractical for real-time use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CPU throttling is the dominant cost, not the simulation itself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Latency becomes less predictable — some digit classes consistently slower than others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0.25 CPU / 256 MB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Container fails at startup — out of memory before a single request is served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Establishes a hard lower bound on resource requirements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Key takeaway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Accuracy stays stable across all working configurations — constraints affect speed, not correctness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SNN inference does not degrade gradually — even moderate constraints cause disproportionately large performance drops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Memory is a hard constraint; CPU is a performance constraint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RQ2: How does K3d behave when managing SNN inference workloads?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Deployment complexity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K3d is easy to set up — a working cluster with minimal commands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But SNN workloads exposed mismatches with default settings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Required manual fixes: kubeconfig adjustments, extended health probe timeouts, Traefik timeout tuning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Default configuration assumes fast, stateless services — SNNs are neither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1 replica / 1 client — sequential baseline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Latency is tight and predictable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Minimal orchestration overhead — K3d stays out of the way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1 replica / 3 clients — concurrent load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Latency increases significantly due to queuing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Throughput barely changes — requests just wait in line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Single-worker bottleneck confirmed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3 replicas / 3 clients — horizontal scaling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Median latency improves — parallel execution works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Throughput increases but well below theoretical maximum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Tail latency gets much worse — p99 far higher than p50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Cause: round-robin routing doesn't account for how busy each pod actually is — some replicas queue while others sit idle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Key takeaway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K3d can orchestrate SNN workloads, but its defaults need tuning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Scaling improves median performance but creates severe tail latency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Round-robin load balancing is a poor fit for long-running inference — load-aware routing would help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purple">
  <p:cSld name="Cover - purple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1108799" y="2553066"/>
            <a:ext cx="6265015" cy="3381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Tampere University, Tampere University of Applied Sciences."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000" y="1080000"/>
            <a:ext cx="5061702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56">
          <p15:clr>
            <a:srgbClr val="FBAE40"/>
          </p15:clr>
        </p15:guide>
        <p15:guide id="3" pos="5704">
          <p15:clr>
            <a:srgbClr val="FBAE40"/>
          </p15:clr>
        </p15:guide>
        <p15:guide id="4" orient="horz" pos="42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white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525600" y="911723"/>
            <a:ext cx="8208000" cy="645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008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525600" y="1707297"/>
            <a:ext cx="8208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purple" type="title">
  <p:cSld name="TITLE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273452" y="640094"/>
            <a:ext cx="8870547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526210" y="2758440"/>
            <a:ext cx="8208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subTitle"/>
          </p:nvPr>
        </p:nvSpPr>
        <p:spPr>
          <a:xfrm>
            <a:off x="526209" y="4435972"/>
            <a:ext cx="8208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526210" y="6489701"/>
            <a:ext cx="5084669" cy="2519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17/11/2025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8617790" y="6489701"/>
            <a:ext cx="373804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56">
          <p15:clr>
            <a:srgbClr val="FBAE40"/>
          </p15:clr>
        </p15:guide>
        <p15:guide id="3" pos="5704">
          <p15:clr>
            <a:srgbClr val="FBAE40"/>
          </p15:clr>
        </p15:guide>
        <p15:guide id="4" orient="horz" pos="424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white">
  <p:cSld name="Title Slide - whit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ctrTitle"/>
          </p:nvPr>
        </p:nvSpPr>
        <p:spPr>
          <a:xfrm>
            <a:off x="525600" y="2757600"/>
            <a:ext cx="8208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008E"/>
              </a:buClr>
              <a:buSzPts val="5400"/>
              <a:buFont typeface="Arial"/>
              <a:buNone/>
              <a:defRPr sz="5400">
                <a:solidFill>
                  <a:srgbClr val="4E008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525600" y="4435200"/>
            <a:ext cx="8208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008E"/>
              </a:buClr>
              <a:buSzPts val="3200"/>
              <a:buNone/>
              <a:defRPr sz="3200">
                <a:solidFill>
                  <a:srgbClr val="4E008E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56">
          <p15:clr>
            <a:srgbClr val="FBAE40"/>
          </p15:clr>
        </p15:guide>
        <p15:guide id="3" pos="5704">
          <p15:clr>
            <a:srgbClr val="FBAE40"/>
          </p15:clr>
        </p15:guide>
        <p15:guide id="4" orient="horz" pos="424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purple">
  <p:cSld name="Title and Content - purp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273452" y="640094"/>
            <a:ext cx="8870547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 txBox="1"/>
          <p:nvPr>
            <p:ph type="title"/>
          </p:nvPr>
        </p:nvSpPr>
        <p:spPr>
          <a:xfrm>
            <a:off x="525600" y="911723"/>
            <a:ext cx="8208000" cy="645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525600" y="1707297"/>
            <a:ext cx="8208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>
                <a:solidFill>
                  <a:schemeClr val="lt1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525600" y="6489701"/>
            <a:ext cx="5084669" cy="2519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/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17/11/2025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/>
          <p:nvPr/>
        </p:nvSpPr>
        <p:spPr>
          <a:xfrm>
            <a:off x="8617790" y="6489701"/>
            <a:ext cx="373804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- white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525599" y="908051"/>
            <a:ext cx="8208000" cy="64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008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525600" y="1706400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693000" y="1706400"/>
            <a:ext cx="404059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- purple">
  <p:cSld name="Two Content - purp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273452" y="640094"/>
            <a:ext cx="8870547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 txBox="1"/>
          <p:nvPr>
            <p:ph type="title"/>
          </p:nvPr>
        </p:nvSpPr>
        <p:spPr>
          <a:xfrm>
            <a:off x="525599" y="908051"/>
            <a:ext cx="8208000" cy="64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" type="body"/>
          </p:nvPr>
        </p:nvSpPr>
        <p:spPr>
          <a:xfrm>
            <a:off x="525600" y="1706400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>
                <a:solidFill>
                  <a:schemeClr val="lt1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2" type="body"/>
          </p:nvPr>
        </p:nvSpPr>
        <p:spPr>
          <a:xfrm>
            <a:off x="4686300" y="1706400"/>
            <a:ext cx="404455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>
                <a:solidFill>
                  <a:schemeClr val="lt1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525600" y="6489701"/>
            <a:ext cx="5084669" cy="2519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/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17/11/2025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8"/>
          <p:cNvSpPr txBox="1"/>
          <p:nvPr/>
        </p:nvSpPr>
        <p:spPr>
          <a:xfrm>
            <a:off x="8617790" y="6489701"/>
            <a:ext cx="373804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- white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525600" y="916517"/>
            <a:ext cx="8208000" cy="64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008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525600" y="1700214"/>
            <a:ext cx="39600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525600" y="2647951"/>
            <a:ext cx="3960000" cy="3541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3" type="body"/>
          </p:nvPr>
        </p:nvSpPr>
        <p:spPr>
          <a:xfrm>
            <a:off x="4773600" y="1700214"/>
            <a:ext cx="39600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9"/>
          <p:cNvSpPr txBox="1"/>
          <p:nvPr>
            <p:ph idx="4" type="body"/>
          </p:nvPr>
        </p:nvSpPr>
        <p:spPr>
          <a:xfrm>
            <a:off x="4773600" y="2647950"/>
            <a:ext cx="3960000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- purple">
  <p:cSld name="Comparison - purpl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/>
          <p:nvPr/>
        </p:nvSpPr>
        <p:spPr>
          <a:xfrm>
            <a:off x="273452" y="640094"/>
            <a:ext cx="8870547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 txBox="1"/>
          <p:nvPr>
            <p:ph type="title"/>
          </p:nvPr>
        </p:nvSpPr>
        <p:spPr>
          <a:xfrm>
            <a:off x="525600" y="916517"/>
            <a:ext cx="8208000" cy="64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525600" y="1700214"/>
            <a:ext cx="39600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10"/>
          <p:cNvSpPr txBox="1"/>
          <p:nvPr>
            <p:ph idx="2" type="body"/>
          </p:nvPr>
        </p:nvSpPr>
        <p:spPr>
          <a:xfrm>
            <a:off x="525600" y="2647951"/>
            <a:ext cx="3960000" cy="3541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3" type="body"/>
          </p:nvPr>
        </p:nvSpPr>
        <p:spPr>
          <a:xfrm>
            <a:off x="4773600" y="1700214"/>
            <a:ext cx="39600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10"/>
          <p:cNvSpPr txBox="1"/>
          <p:nvPr>
            <p:ph idx="4" type="body"/>
          </p:nvPr>
        </p:nvSpPr>
        <p:spPr>
          <a:xfrm>
            <a:off x="4773600" y="2647950"/>
            <a:ext cx="3960000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525600" y="6489701"/>
            <a:ext cx="5084669" cy="2519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/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17/11/2025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0"/>
          <p:cNvSpPr txBox="1"/>
          <p:nvPr/>
        </p:nvSpPr>
        <p:spPr>
          <a:xfrm>
            <a:off x="8617790" y="6489701"/>
            <a:ext cx="373804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white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525600" y="914401"/>
            <a:ext cx="8208000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008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purple">
  <p:cSld name="Title Only - purple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273452" y="640094"/>
            <a:ext cx="8870547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/>
          <p:nvPr>
            <p:ph type="title"/>
          </p:nvPr>
        </p:nvSpPr>
        <p:spPr>
          <a:xfrm>
            <a:off x="525599" y="914401"/>
            <a:ext cx="8208000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1" type="ftr"/>
          </p:nvPr>
        </p:nvSpPr>
        <p:spPr>
          <a:xfrm>
            <a:off x="525600" y="6489701"/>
            <a:ext cx="5084669" cy="2519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/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17/11/2025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8617790" y="6489701"/>
            <a:ext cx="373804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white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purple">
  <p:cSld name="Blank - purp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273452" y="640094"/>
            <a:ext cx="8870547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22936" y="6506632"/>
            <a:ext cx="5084669" cy="2519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>
            <p:ph idx="11" type="ftr"/>
          </p:nvPr>
        </p:nvSpPr>
        <p:spPr>
          <a:xfrm>
            <a:off x="525600" y="6489701"/>
            <a:ext cx="5084669" cy="2519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/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17/11/2025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617790" y="6489701"/>
            <a:ext cx="373804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gray">
  <p:cSld name="Blank - gra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273453" y="636422"/>
            <a:ext cx="8870547" cy="622157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 - white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525600" y="908050"/>
            <a:ext cx="2949178" cy="1149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008E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3781425" y="908050"/>
            <a:ext cx="4945473" cy="4960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9" name="Google Shape;109;p16"/>
          <p:cNvSpPr txBox="1"/>
          <p:nvPr>
            <p:ph idx="2" type="body"/>
          </p:nvPr>
        </p:nvSpPr>
        <p:spPr>
          <a:xfrm>
            <a:off x="525600" y="2172614"/>
            <a:ext cx="2949178" cy="3696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0" name="Google Shape;110;p16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6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 - purple">
  <p:cSld name="Content with Caption - purp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273452" y="640094"/>
            <a:ext cx="8870547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 txBox="1"/>
          <p:nvPr>
            <p:ph type="title"/>
          </p:nvPr>
        </p:nvSpPr>
        <p:spPr>
          <a:xfrm>
            <a:off x="525600" y="908050"/>
            <a:ext cx="2949178" cy="1149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3780000" y="908050"/>
            <a:ext cx="4946400" cy="4960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>
                <a:solidFill>
                  <a:schemeClr val="lt1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7" name="Google Shape;117;p17"/>
          <p:cNvSpPr txBox="1"/>
          <p:nvPr>
            <p:ph idx="2" type="body"/>
          </p:nvPr>
        </p:nvSpPr>
        <p:spPr>
          <a:xfrm>
            <a:off x="525600" y="2172614"/>
            <a:ext cx="2949178" cy="3696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8" name="Google Shape;118;p17"/>
          <p:cNvSpPr txBox="1"/>
          <p:nvPr>
            <p:ph idx="11" type="ftr"/>
          </p:nvPr>
        </p:nvSpPr>
        <p:spPr>
          <a:xfrm>
            <a:off x="525600" y="6489701"/>
            <a:ext cx="5084669" cy="2519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7"/>
          <p:cNvSpPr txBox="1"/>
          <p:nvPr/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17/11/2025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8617790" y="6489701"/>
            <a:ext cx="373804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 - white" type="vertTx">
  <p:cSld name="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525600" y="899771"/>
            <a:ext cx="8208000" cy="660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008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 rot="5400000">
            <a:off x="2453931" y="-221034"/>
            <a:ext cx="4351338" cy="82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8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8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 - purple">
  <p:cSld name="Title and Vertical Text - purp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273452" y="640094"/>
            <a:ext cx="8870547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 txBox="1"/>
          <p:nvPr>
            <p:ph type="title"/>
          </p:nvPr>
        </p:nvSpPr>
        <p:spPr>
          <a:xfrm>
            <a:off x="525600" y="899771"/>
            <a:ext cx="8208000" cy="660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 rot="5400000">
            <a:off x="2453931" y="-221034"/>
            <a:ext cx="4351338" cy="82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>
                <a:solidFill>
                  <a:schemeClr val="lt1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1" type="ftr"/>
          </p:nvPr>
        </p:nvSpPr>
        <p:spPr>
          <a:xfrm>
            <a:off x="525600" y="6489701"/>
            <a:ext cx="5084669" cy="2519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9"/>
          <p:cNvSpPr txBox="1"/>
          <p:nvPr/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17/11/2025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8617790" y="6489701"/>
            <a:ext cx="373804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 - white" type="vertTitleAndTx">
  <p:cSld name="VERTICAL_TITLE_AND_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 rot="5400000">
            <a:off x="5096517" y="2556668"/>
            <a:ext cx="5268914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008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 rot="5400000">
            <a:off x="876369" y="557282"/>
            <a:ext cx="5268913" cy="597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 - purple">
  <p:cSld name="Vertical Title and Text - purple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>
            <a:off x="273452" y="640094"/>
            <a:ext cx="8870547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1"/>
          <p:cNvSpPr txBox="1"/>
          <p:nvPr>
            <p:ph type="title"/>
          </p:nvPr>
        </p:nvSpPr>
        <p:spPr>
          <a:xfrm rot="5400000">
            <a:off x="5097781" y="2556668"/>
            <a:ext cx="5268914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 rot="5400000">
            <a:off x="877342" y="556307"/>
            <a:ext cx="5268913" cy="59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>
                <a:solidFill>
                  <a:schemeClr val="lt1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11" type="ftr"/>
          </p:nvPr>
        </p:nvSpPr>
        <p:spPr>
          <a:xfrm>
            <a:off x="525600" y="6489701"/>
            <a:ext cx="5084669" cy="2519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1"/>
          <p:cNvSpPr txBox="1"/>
          <p:nvPr/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17/11/2025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8617790" y="6489701"/>
            <a:ext cx="373804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 - white">
  <p:cSld name="Picture with Caption - white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525600" y="908050"/>
            <a:ext cx="2949178" cy="1149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008E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2"/>
          <p:cNvSpPr/>
          <p:nvPr>
            <p:ph idx="2" type="pic"/>
          </p:nvPr>
        </p:nvSpPr>
        <p:spPr>
          <a:xfrm>
            <a:off x="3704492" y="908050"/>
            <a:ext cx="5026361" cy="4960937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525600" y="2223821"/>
            <a:ext cx="2949178" cy="3645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1" name="Google Shape;151;p22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 - purple">
  <p:cSld name="Picture with Caption - purple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>
            <a:off x="273452" y="640094"/>
            <a:ext cx="8870547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525600" y="908050"/>
            <a:ext cx="2949178" cy="1149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3"/>
          <p:cNvSpPr/>
          <p:nvPr>
            <p:ph idx="2" type="pic"/>
          </p:nvPr>
        </p:nvSpPr>
        <p:spPr>
          <a:xfrm>
            <a:off x="3700536" y="914275"/>
            <a:ext cx="5026362" cy="4954712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525600" y="2223821"/>
            <a:ext cx="2949178" cy="3645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9" name="Google Shape;159;p23"/>
          <p:cNvSpPr txBox="1"/>
          <p:nvPr>
            <p:ph idx="11" type="ftr"/>
          </p:nvPr>
        </p:nvSpPr>
        <p:spPr>
          <a:xfrm>
            <a:off x="525600" y="6489701"/>
            <a:ext cx="5084669" cy="2519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/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17/11/2025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8617790" y="6489701"/>
            <a:ext cx="373804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caption - white">
  <p:cSld name="Big caption - white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525600" y="1143246"/>
            <a:ext cx="3640451" cy="3149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008E"/>
              </a:buClr>
              <a:buSzPts val="4400"/>
              <a:buFont typeface="Arial"/>
              <a:buNone/>
              <a:defRPr sz="4400">
                <a:solidFill>
                  <a:srgbClr val="4E008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4521200" y="1312458"/>
            <a:ext cx="3780000" cy="4890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solidFill>
                  <a:schemeClr val="dk1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4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caption - purple">
  <p:cSld name="Big caption - purpl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273452" y="640094"/>
            <a:ext cx="8870547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5"/>
          <p:cNvSpPr txBox="1"/>
          <p:nvPr>
            <p:ph type="title"/>
          </p:nvPr>
        </p:nvSpPr>
        <p:spPr>
          <a:xfrm>
            <a:off x="525600" y="1129721"/>
            <a:ext cx="3640451" cy="4427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4514853" y="1320929"/>
            <a:ext cx="3780000" cy="4890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>
                <a:solidFill>
                  <a:schemeClr val="lt1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25"/>
          <p:cNvSpPr txBox="1"/>
          <p:nvPr>
            <p:ph idx="11" type="ftr"/>
          </p:nvPr>
        </p:nvSpPr>
        <p:spPr>
          <a:xfrm>
            <a:off x="525600" y="6489701"/>
            <a:ext cx="5084669" cy="2519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5"/>
          <p:cNvSpPr txBox="1"/>
          <p:nvPr/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17/11/2025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8617790" y="6489701"/>
            <a:ext cx="373804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caption and picture - white">
  <p:cSld name="Big caption and picture - whit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/>
          <p:nvPr>
            <p:ph idx="2" type="pic"/>
          </p:nvPr>
        </p:nvSpPr>
        <p:spPr>
          <a:xfrm>
            <a:off x="4431323" y="908050"/>
            <a:ext cx="4299532" cy="5281762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6"/>
          <p:cNvSpPr txBox="1"/>
          <p:nvPr>
            <p:ph type="title"/>
          </p:nvPr>
        </p:nvSpPr>
        <p:spPr>
          <a:xfrm>
            <a:off x="525600" y="792400"/>
            <a:ext cx="3718223" cy="1909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525600" y="2960017"/>
            <a:ext cx="3637483" cy="3229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solidFill>
                  <a:schemeClr val="dk1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26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6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caption and picture - purple">
  <p:cSld name="Big caption and picture - purple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/>
          <p:nvPr/>
        </p:nvSpPr>
        <p:spPr>
          <a:xfrm>
            <a:off x="273452" y="640094"/>
            <a:ext cx="8870547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525600" y="2960017"/>
            <a:ext cx="3642969" cy="3222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>
                <a:solidFill>
                  <a:schemeClr val="lt1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27"/>
          <p:cNvSpPr/>
          <p:nvPr>
            <p:ph idx="2" type="pic"/>
          </p:nvPr>
        </p:nvSpPr>
        <p:spPr>
          <a:xfrm>
            <a:off x="4431322" y="908050"/>
            <a:ext cx="4299531" cy="5273294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27"/>
          <p:cNvSpPr txBox="1"/>
          <p:nvPr>
            <p:ph type="title"/>
          </p:nvPr>
        </p:nvSpPr>
        <p:spPr>
          <a:xfrm>
            <a:off x="525600" y="775658"/>
            <a:ext cx="3716639" cy="1909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7"/>
          <p:cNvSpPr txBox="1"/>
          <p:nvPr>
            <p:ph idx="11" type="ftr"/>
          </p:nvPr>
        </p:nvSpPr>
        <p:spPr>
          <a:xfrm>
            <a:off x="525600" y="6489701"/>
            <a:ext cx="5084669" cy="2519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7"/>
          <p:cNvSpPr txBox="1"/>
          <p:nvPr/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17/11/2025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8617790" y="6489701"/>
            <a:ext cx="373804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s and text_1 - white">
  <p:cSld name="Pictures and text_1 - white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525599" y="908050"/>
            <a:ext cx="8208000" cy="64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008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8"/>
          <p:cNvSpPr/>
          <p:nvPr>
            <p:ph idx="2" type="pic"/>
          </p:nvPr>
        </p:nvSpPr>
        <p:spPr>
          <a:xfrm>
            <a:off x="525599" y="1931989"/>
            <a:ext cx="1944000" cy="1523637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525599" y="3455625"/>
            <a:ext cx="1944000" cy="263366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216000" lIns="144000" spcFirstLastPara="1" rIns="144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28"/>
          <p:cNvSpPr/>
          <p:nvPr>
            <p:ph idx="3" type="pic"/>
          </p:nvPr>
        </p:nvSpPr>
        <p:spPr>
          <a:xfrm>
            <a:off x="2625628" y="1931989"/>
            <a:ext cx="1944000" cy="1523637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28"/>
          <p:cNvSpPr txBox="1"/>
          <p:nvPr>
            <p:ph idx="4" type="body"/>
          </p:nvPr>
        </p:nvSpPr>
        <p:spPr>
          <a:xfrm>
            <a:off x="2625628" y="3455625"/>
            <a:ext cx="1944000" cy="263366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216000" lIns="144000" spcFirstLastPara="1" rIns="144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28"/>
          <p:cNvSpPr/>
          <p:nvPr>
            <p:ph idx="5" type="pic"/>
          </p:nvPr>
        </p:nvSpPr>
        <p:spPr>
          <a:xfrm>
            <a:off x="4708071" y="1931989"/>
            <a:ext cx="1944000" cy="1523637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8"/>
          <p:cNvSpPr txBox="1"/>
          <p:nvPr>
            <p:ph idx="6" type="body"/>
          </p:nvPr>
        </p:nvSpPr>
        <p:spPr>
          <a:xfrm>
            <a:off x="4708071" y="3455625"/>
            <a:ext cx="1944000" cy="263366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216000" lIns="144000" spcFirstLastPara="1" rIns="144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28"/>
          <p:cNvSpPr/>
          <p:nvPr>
            <p:ph idx="7" type="pic"/>
          </p:nvPr>
        </p:nvSpPr>
        <p:spPr>
          <a:xfrm>
            <a:off x="6788675" y="1933861"/>
            <a:ext cx="1944000" cy="1523637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28"/>
          <p:cNvSpPr txBox="1"/>
          <p:nvPr>
            <p:ph idx="8" type="body"/>
          </p:nvPr>
        </p:nvSpPr>
        <p:spPr>
          <a:xfrm>
            <a:off x="6788675" y="3457497"/>
            <a:ext cx="1944000" cy="263179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216000" lIns="144000" spcFirstLastPara="1" rIns="144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28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8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8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s and text_2 - white">
  <p:cSld name="Pictures and text_2 - white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525599" y="908050"/>
            <a:ext cx="8208000" cy="64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008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9"/>
          <p:cNvSpPr/>
          <p:nvPr>
            <p:ph idx="2" type="pic"/>
          </p:nvPr>
        </p:nvSpPr>
        <p:spPr>
          <a:xfrm>
            <a:off x="525599" y="1931988"/>
            <a:ext cx="2556000" cy="1593882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525599" y="3455625"/>
            <a:ext cx="2556000" cy="275508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216000" lIns="144000" spcFirstLastPara="1" rIns="144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29"/>
          <p:cNvSpPr/>
          <p:nvPr>
            <p:ph idx="3" type="pic"/>
          </p:nvPr>
        </p:nvSpPr>
        <p:spPr>
          <a:xfrm>
            <a:off x="3350185" y="1931988"/>
            <a:ext cx="2556000" cy="1593882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9"/>
          <p:cNvSpPr txBox="1"/>
          <p:nvPr>
            <p:ph idx="4" type="body"/>
          </p:nvPr>
        </p:nvSpPr>
        <p:spPr>
          <a:xfrm>
            <a:off x="3350185" y="3455625"/>
            <a:ext cx="2556000" cy="275508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216000" lIns="144000" spcFirstLastPara="1" rIns="144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29"/>
          <p:cNvSpPr/>
          <p:nvPr>
            <p:ph idx="5" type="pic"/>
          </p:nvPr>
        </p:nvSpPr>
        <p:spPr>
          <a:xfrm>
            <a:off x="6174772" y="1931988"/>
            <a:ext cx="2556000" cy="1593882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29"/>
          <p:cNvSpPr txBox="1"/>
          <p:nvPr>
            <p:ph idx="6" type="body"/>
          </p:nvPr>
        </p:nvSpPr>
        <p:spPr>
          <a:xfrm>
            <a:off x="6174772" y="3455625"/>
            <a:ext cx="2556000" cy="275508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216000" lIns="144000" spcFirstLastPara="1" rIns="144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29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9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9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white">
  <p:cSld name="Quote - white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/>
          <p:nvPr>
            <p:ph type="title"/>
          </p:nvPr>
        </p:nvSpPr>
        <p:spPr>
          <a:xfrm>
            <a:off x="525600" y="2682000"/>
            <a:ext cx="7995188" cy="18208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008E"/>
              </a:buClr>
              <a:buSzPts val="5400"/>
              <a:buFont typeface="Arial"/>
              <a:buNone/>
              <a:defRPr sz="5400">
                <a:solidFill>
                  <a:srgbClr val="4E008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0"/>
          <p:cNvSpPr txBox="1"/>
          <p:nvPr>
            <p:ph idx="1" type="body"/>
          </p:nvPr>
        </p:nvSpPr>
        <p:spPr>
          <a:xfrm>
            <a:off x="525600" y="4608000"/>
            <a:ext cx="7995047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008E"/>
              </a:buClr>
              <a:buSzPts val="3200"/>
              <a:buFont typeface="Arial"/>
              <a:buNone/>
              <a:defRPr sz="3200">
                <a:solidFill>
                  <a:srgbClr val="4E008E"/>
                </a:solidFill>
              </a:defRPr>
            </a:lvl1pPr>
            <a:lvl2pPr indent="-228600" lvl="1" marL="914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indent="-228600" lvl="2" marL="1371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indent="-228600" lvl="3" marL="1828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indent="-228600" lvl="4" marL="22860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30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0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0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purple">
  <p:cSld name="Quote - purple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/>
          <p:nvPr/>
        </p:nvSpPr>
        <p:spPr>
          <a:xfrm>
            <a:off x="273452" y="640094"/>
            <a:ext cx="8870547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1"/>
          <p:cNvSpPr txBox="1"/>
          <p:nvPr>
            <p:ph type="title"/>
          </p:nvPr>
        </p:nvSpPr>
        <p:spPr>
          <a:xfrm>
            <a:off x="525600" y="2683405"/>
            <a:ext cx="7995188" cy="18208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1"/>
          <p:cNvSpPr txBox="1"/>
          <p:nvPr>
            <p:ph idx="1" type="body"/>
          </p:nvPr>
        </p:nvSpPr>
        <p:spPr>
          <a:xfrm>
            <a:off x="525600" y="4606387"/>
            <a:ext cx="7983262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31"/>
          <p:cNvSpPr txBox="1"/>
          <p:nvPr>
            <p:ph idx="11" type="ftr"/>
          </p:nvPr>
        </p:nvSpPr>
        <p:spPr>
          <a:xfrm>
            <a:off x="525600" y="6489701"/>
            <a:ext cx="5084669" cy="2519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1"/>
          <p:cNvSpPr txBox="1"/>
          <p:nvPr/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17/11/2025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8617790" y="6489701"/>
            <a:ext cx="373804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er - white">
  <p:cSld name="Presenter - white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/>
          <p:nvPr/>
        </p:nvSpPr>
        <p:spPr>
          <a:xfrm>
            <a:off x="273452" y="636422"/>
            <a:ext cx="8870548" cy="622157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820132" y="1569142"/>
            <a:ext cx="7268066" cy="406070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sx="74000" rotWithShape="0" algn="tl" dir="2700000" dist="38100" sy="740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2"/>
          <p:cNvSpPr/>
          <p:nvPr>
            <p:ph idx="2" type="pic"/>
          </p:nvPr>
        </p:nvSpPr>
        <p:spPr>
          <a:xfrm>
            <a:off x="6497425" y="1883432"/>
            <a:ext cx="1801232" cy="3424232"/>
          </a:xfrm>
          <a:prstGeom prst="rect">
            <a:avLst/>
          </a:prstGeom>
          <a:solidFill>
            <a:srgbClr val="7DCDBE"/>
          </a:solidFill>
          <a:ln>
            <a:noFill/>
          </a:ln>
        </p:spPr>
      </p:sp>
      <p:sp>
        <p:nvSpPr>
          <p:cNvPr id="231" name="Google Shape;231;p32"/>
          <p:cNvSpPr txBox="1"/>
          <p:nvPr>
            <p:ph idx="1" type="body"/>
          </p:nvPr>
        </p:nvSpPr>
        <p:spPr>
          <a:xfrm>
            <a:off x="1126595" y="1569143"/>
            <a:ext cx="5120930" cy="8167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008E"/>
              </a:buClr>
              <a:buSzPts val="3200"/>
              <a:buNone/>
              <a:defRPr b="1" sz="3200">
                <a:solidFill>
                  <a:srgbClr val="4E008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32" name="Google Shape;232;p32"/>
          <p:cNvSpPr txBox="1"/>
          <p:nvPr>
            <p:ph idx="3" type="body"/>
          </p:nvPr>
        </p:nvSpPr>
        <p:spPr>
          <a:xfrm>
            <a:off x="1126598" y="2385899"/>
            <a:ext cx="5120928" cy="365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DCDBE"/>
              </a:buClr>
              <a:buSzPts val="2400"/>
              <a:buNone/>
              <a:defRPr sz="2400">
                <a:solidFill>
                  <a:srgbClr val="7DCDBE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33" name="Google Shape;233;p32"/>
          <p:cNvCxnSpPr/>
          <p:nvPr/>
        </p:nvCxnSpPr>
        <p:spPr>
          <a:xfrm>
            <a:off x="3651560" y="2984294"/>
            <a:ext cx="0" cy="2319489"/>
          </a:xfrm>
          <a:prstGeom prst="straightConnector1">
            <a:avLst/>
          </a:prstGeom>
          <a:noFill/>
          <a:ln cap="flat" cmpd="sng" w="9525">
            <a:solidFill>
              <a:srgbClr val="4E008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4" name="Google Shape;234;p32"/>
          <p:cNvSpPr txBox="1"/>
          <p:nvPr>
            <p:ph idx="4" type="body"/>
          </p:nvPr>
        </p:nvSpPr>
        <p:spPr>
          <a:xfrm>
            <a:off x="1126595" y="2915308"/>
            <a:ext cx="2387805" cy="2392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32"/>
          <p:cNvSpPr txBox="1"/>
          <p:nvPr>
            <p:ph idx="5" type="body"/>
          </p:nvPr>
        </p:nvSpPr>
        <p:spPr>
          <a:xfrm>
            <a:off x="3859721" y="2914200"/>
            <a:ext cx="2387805" cy="2393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p32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2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2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icture - white">
  <p:cSld name="Big picture - white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/>
          <p:nvPr>
            <p:ph idx="2" type="pic"/>
          </p:nvPr>
        </p:nvSpPr>
        <p:spPr>
          <a:xfrm>
            <a:off x="273451" y="636422"/>
            <a:ext cx="8870549" cy="6221578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3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3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33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56">
          <p15:clr>
            <a:srgbClr val="FBAE40"/>
          </p15:clr>
        </p15:guide>
        <p15:guide id="3" pos="5704">
          <p15:clr>
            <a:srgbClr val="FBAE40"/>
          </p15:clr>
        </p15:guide>
        <p15:guide id="4" orient="horz" pos="424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 EN - purple">
  <p:cSld name="Ending EN - purple"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/>
          <p:nvPr/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54045" y="1783790"/>
            <a:ext cx="2225901" cy="311403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4"/>
          <p:cNvSpPr txBox="1"/>
          <p:nvPr/>
        </p:nvSpPr>
        <p:spPr>
          <a:xfrm>
            <a:off x="4232126" y="2414178"/>
            <a:ext cx="3758780" cy="2169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Human Potential Unlimited.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56">
          <p15:clr>
            <a:srgbClr val="FBAE40"/>
          </p15:clr>
        </p15:guide>
        <p15:guide id="3" pos="5704">
          <p15:clr>
            <a:srgbClr val="FBAE40"/>
          </p15:clr>
        </p15:guide>
        <p15:guide id="4" orient="horz" pos="424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" type="body"/>
          </p:nvPr>
        </p:nvSpPr>
        <p:spPr>
          <a:xfrm>
            <a:off x="525600" y="1707297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7291748" y="6489700"/>
            <a:ext cx="1272658" cy="25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620348" y="6489701"/>
            <a:ext cx="371246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525600" y="6489701"/>
            <a:ext cx="5084100" cy="25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type="title"/>
          </p:nvPr>
        </p:nvSpPr>
        <p:spPr>
          <a:xfrm>
            <a:off x="525600" y="911554"/>
            <a:ext cx="7891300" cy="645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008E"/>
              </a:buClr>
              <a:buSzPts val="4000"/>
              <a:buFont typeface="Arial"/>
              <a:buNone/>
              <a:defRPr b="1" i="0" sz="4000" u="none" cap="none" strike="noStrike">
                <a:solidFill>
                  <a:srgbClr val="4E008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Tampere University, Tampere University of Applied Sciences." id="15" name="Google Shape;1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26000" y="115200"/>
            <a:ext cx="2368877" cy="4212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73">
          <p15:clr>
            <a:srgbClr val="F26B43"/>
          </p15:clr>
        </p15:guide>
        <p15:guide id="2" pos="5704">
          <p15:clr>
            <a:srgbClr val="F26B43"/>
          </p15:clr>
        </p15:guide>
        <p15:guide id="3" pos="56">
          <p15:clr>
            <a:srgbClr val="F26B43"/>
          </p15:clr>
        </p15:guide>
        <p15:guide id="4" orient="horz" pos="4247">
          <p15:clr>
            <a:srgbClr val="F26B43"/>
          </p15:clr>
        </p15:guide>
        <p15:guide id="5" pos="244">
          <p15:clr>
            <a:srgbClr val="F26B43"/>
          </p15:clr>
        </p15:guide>
        <p15:guide id="6" orient="horz" pos="4088">
          <p15:clr>
            <a:srgbClr val="F26B43"/>
          </p15:clr>
        </p15:guide>
        <p15:guide id="7" pos="5228">
          <p15:clr>
            <a:srgbClr val="F26B43"/>
          </p15:clr>
        </p15:guide>
        <p15:guide id="8" orient="horz" pos="346">
          <p15:clr>
            <a:srgbClr val="F26B43"/>
          </p15:clr>
        </p15:guide>
        <p15:guide id="9" orient="horz" pos="981">
          <p15:clr>
            <a:srgbClr val="F26B43"/>
          </p15:clr>
        </p15:guide>
        <p15:guide id="10" orient="horz" pos="572">
          <p15:clr>
            <a:srgbClr val="F26B43"/>
          </p15:clr>
        </p15:guide>
        <p15:guide id="11" orient="horz" pos="1071">
          <p15:clr>
            <a:srgbClr val="F26B43"/>
          </p15:clr>
        </p15:guide>
        <p15:guide id="12" pos="55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/>
          <p:nvPr>
            <p:ph type="ctrTitle"/>
          </p:nvPr>
        </p:nvSpPr>
        <p:spPr>
          <a:xfrm>
            <a:off x="1108800" y="2547400"/>
            <a:ext cx="69153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3400"/>
              <a:t>Design and Implementation of a LangGraph-Based Marketing Analytics Agent</a:t>
            </a:r>
            <a:endParaRPr/>
          </a:p>
        </p:txBody>
      </p:sp>
      <p:sp>
        <p:nvSpPr>
          <p:cNvPr id="254" name="Google Shape;254;p35"/>
          <p:cNvSpPr txBox="1"/>
          <p:nvPr/>
        </p:nvSpPr>
        <p:spPr>
          <a:xfrm>
            <a:off x="1108799" y="5248694"/>
            <a:ext cx="489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</a:rPr>
              <a:t>Nhan Chau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/>
          <p:nvPr>
            <p:ph type="title"/>
          </p:nvPr>
        </p:nvSpPr>
        <p:spPr>
          <a:xfrm>
            <a:off x="525600" y="911723"/>
            <a:ext cx="8208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Introduction</a:t>
            </a:r>
            <a:endParaRPr/>
          </a:p>
        </p:txBody>
      </p:sp>
      <p:sp>
        <p:nvSpPr>
          <p:cNvPr id="261" name="Google Shape;261;p36"/>
          <p:cNvSpPr txBox="1"/>
          <p:nvPr>
            <p:ph idx="1" type="body"/>
          </p:nvPr>
        </p:nvSpPr>
        <p:spPr>
          <a:xfrm>
            <a:off x="525600" y="1557339"/>
            <a:ext cx="8208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700"/>
              <a:t>Marketing teams spend hours querying databases and assembling reports by hand. </a:t>
            </a:r>
            <a:r>
              <a:rPr lang="en-US" sz="1900"/>
              <a:t>They receives a question → writes SQL → cleans data → charts → writes report • Each cycle can take hours for a single ad-hoc request 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700"/>
              <a:t>This thesis proposes an AI agent that lets analysts simply ask questions in plain English and get back a structured report automatically. </a:t>
            </a:r>
            <a:endParaRPr sz="27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/>
              <a:t>The agent figures out which data to fetch, writes the SQL itself, and can analyse multiple ad platforms at the same time.</a:t>
            </a:r>
            <a:endParaRPr sz="2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6"/>
          <p:cNvSpPr txBox="1"/>
          <p:nvPr>
            <p:ph idx="12" type="sldNum"/>
          </p:nvPr>
        </p:nvSpPr>
        <p:spPr>
          <a:xfrm>
            <a:off x="8620348" y="6489701"/>
            <a:ext cx="37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type="title"/>
          </p:nvPr>
        </p:nvSpPr>
        <p:spPr>
          <a:xfrm>
            <a:off x="525600" y="911723"/>
            <a:ext cx="8208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Research Questions</a:t>
            </a:r>
            <a:endParaRPr/>
          </a:p>
        </p:txBody>
      </p:sp>
      <p:sp>
        <p:nvSpPr>
          <p:cNvPr id="269" name="Google Shape;269;p37"/>
          <p:cNvSpPr txBox="1"/>
          <p:nvPr>
            <p:ph idx="1" type="body"/>
          </p:nvPr>
        </p:nvSpPr>
        <p:spPr>
          <a:xfrm>
            <a:off x="525600" y="1557339"/>
            <a:ext cx="8208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900"/>
              <a:t> How can a ReAct-based LLM agent be designed to reliably perform multi-step marketing data analysis?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/>
              <a:t>How do structured prompt templates (skills) improve the reliability and consistency of an LLM agent for domain-specific workflows?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/>
              <a:t>How can parallel multi-agent orchestration reduce analysis work load?</a:t>
            </a:r>
            <a:endParaRPr sz="1900"/>
          </a:p>
        </p:txBody>
      </p:sp>
      <p:sp>
        <p:nvSpPr>
          <p:cNvPr id="270" name="Google Shape;270;p37"/>
          <p:cNvSpPr txBox="1"/>
          <p:nvPr>
            <p:ph idx="12" type="sldNum"/>
          </p:nvPr>
        </p:nvSpPr>
        <p:spPr>
          <a:xfrm>
            <a:off x="8620348" y="6489701"/>
            <a:ext cx="37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/>
          <p:nvPr>
            <p:ph type="title"/>
          </p:nvPr>
        </p:nvSpPr>
        <p:spPr>
          <a:xfrm>
            <a:off x="525600" y="911723"/>
            <a:ext cx="8208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System Architecture</a:t>
            </a:r>
            <a:endParaRPr/>
          </a:p>
        </p:txBody>
      </p:sp>
      <p:sp>
        <p:nvSpPr>
          <p:cNvPr id="277" name="Google Shape;277;p38"/>
          <p:cNvSpPr txBox="1"/>
          <p:nvPr>
            <p:ph idx="1" type="body"/>
          </p:nvPr>
        </p:nvSpPr>
        <p:spPr>
          <a:xfrm>
            <a:off x="525600" y="1557339"/>
            <a:ext cx="8208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4E008E"/>
                </a:solidFill>
              </a:rPr>
              <a:t>Layers</a:t>
            </a:r>
            <a:endParaRPr b="1" i="1" sz="2000">
              <a:solidFill>
                <a:srgbClr val="4E008E"/>
              </a:solidFill>
            </a:endParaRPr>
          </a:p>
        </p:txBody>
      </p:sp>
      <p:sp>
        <p:nvSpPr>
          <p:cNvPr id="278" name="Google Shape;278;p38"/>
          <p:cNvSpPr txBox="1"/>
          <p:nvPr>
            <p:ph idx="12" type="sldNum"/>
          </p:nvPr>
        </p:nvSpPr>
        <p:spPr>
          <a:xfrm>
            <a:off x="8620348" y="6489701"/>
            <a:ext cx="37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79" name="Google Shape;279;p38"/>
          <p:cNvGraphicFramePr/>
          <p:nvPr/>
        </p:nvGraphicFramePr>
        <p:xfrm>
          <a:off x="952500" y="24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{6262D90A-D6D2-4D3F-937A-9E8B9ECD6F8F}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Layer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Technology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Responsibility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API layer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FastAPI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Accepts user messages; returns final response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Agent layer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LangGraph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Runs the ReAct loop; manages conversation state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Tool layer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Python / SQL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 tools: schema discovery &amp; SQL execution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 layer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PostgreSQL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Marketing database (read-only access)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type="title"/>
          </p:nvPr>
        </p:nvSpPr>
        <p:spPr>
          <a:xfrm>
            <a:off x="525600" y="911725"/>
            <a:ext cx="90057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100"/>
              <a:t>Key Design #1 — Smart Agent, Simple Tools</a:t>
            </a:r>
            <a:endParaRPr sz="3900"/>
          </a:p>
        </p:txBody>
      </p:sp>
      <p:sp>
        <p:nvSpPr>
          <p:cNvPr id="285" name="Google Shape;285;p39"/>
          <p:cNvSpPr txBox="1"/>
          <p:nvPr>
            <p:ph idx="1" type="body"/>
          </p:nvPr>
        </p:nvSpPr>
        <p:spPr>
          <a:xfrm>
            <a:off x="525600" y="1557339"/>
            <a:ext cx="8208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/>
              <a:t>Fewer tools = fewer decision points = lower latency + higher reliability. Tool descriptions are prompt engineering — they determine agent behaviour more than the tool’s implementation code</a:t>
            </a:r>
            <a:endParaRPr sz="2000"/>
          </a:p>
        </p:txBody>
      </p:sp>
      <p:sp>
        <p:nvSpPr>
          <p:cNvPr id="286" name="Google Shape;286;p39"/>
          <p:cNvSpPr txBox="1"/>
          <p:nvPr>
            <p:ph idx="12" type="sldNum"/>
          </p:nvPr>
        </p:nvSpPr>
        <p:spPr>
          <a:xfrm>
            <a:off x="8620348" y="6489701"/>
            <a:ext cx="37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87" name="Google Shape;287;p39"/>
          <p:cNvGraphicFramePr/>
          <p:nvPr/>
        </p:nvGraphicFramePr>
        <p:xfrm>
          <a:off x="945488" y="3359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{6262D90A-D6D2-4D3F-937A-9E8B9ECD6F8F}</a:tableStyleId>
              </a:tblPr>
              <a:tblGrid>
                <a:gridCol w="2417675"/>
                <a:gridCol w="2417675"/>
                <a:gridCol w="2417675"/>
              </a:tblGrid>
              <a:tr h="32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Tool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Category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Purpose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`list_tables`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Schema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List all tables with row counts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`describe_table`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Schema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Show schema, sample rows, value distributions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`query_data`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Execute read-only SQL; return results to model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>
            <p:ph type="title"/>
          </p:nvPr>
        </p:nvSpPr>
        <p:spPr>
          <a:xfrm>
            <a:off x="525600" y="911723"/>
            <a:ext cx="8208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Key Design #2 — Skills System</a:t>
            </a:r>
            <a:endParaRPr/>
          </a:p>
        </p:txBody>
      </p:sp>
      <p:sp>
        <p:nvSpPr>
          <p:cNvPr id="293" name="Google Shape;293;p40"/>
          <p:cNvSpPr txBox="1"/>
          <p:nvPr>
            <p:ph idx="1" type="body"/>
          </p:nvPr>
        </p:nvSpPr>
        <p:spPr>
          <a:xfrm>
            <a:off x="525600" y="1557339"/>
            <a:ext cx="8208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8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i="1" lang="en-US" sz="1700">
                <a:solidFill>
                  <a:srgbClr val="4E008E"/>
                </a:solidFill>
              </a:rPr>
              <a:t>Problem:</a:t>
            </a:r>
            <a:endParaRPr/>
          </a:p>
          <a:p>
            <a:pPr indent="0" lvl="0" marL="0" rtl="0" algn="l">
              <a:lnSpc>
                <a:spcPct val="88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1600"/>
              <a:t>The ReAct loop is flexible but unpredictable for complex multi-step workflows (e.g. weekly report: 6 SQL queries, 4 charts, Excel export, PDF assembly).</a:t>
            </a:r>
            <a:endParaRPr sz="1600"/>
          </a:p>
          <a:p>
            <a:pPr indent="0" lvl="0" marL="0" rtl="0" algn="l">
              <a:lnSpc>
                <a:spcPct val="88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88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i="1" lang="en-US" sz="1700">
                <a:solidFill>
                  <a:srgbClr val="4E008E"/>
                </a:solidFill>
              </a:rPr>
              <a:t>Solution — a Skill:</a:t>
            </a:r>
            <a:endParaRPr/>
          </a:p>
          <a:p>
            <a:pPr indent="-320001" lvl="0" marL="42000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Trigger (e.g. /weekly-report)</a:t>
            </a:r>
            <a:endParaRPr sz="1600"/>
          </a:p>
          <a:p>
            <a:pPr indent="-320001" lvl="0" marL="42000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Numbered step sequence the agent must follow</a:t>
            </a:r>
            <a:endParaRPr sz="1600"/>
          </a:p>
          <a:p>
            <a:pPr indent="-320001" lvl="0" marL="42000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Output format specs (chart sizes, Excel structure, PDF sections)</a:t>
            </a:r>
            <a:endParaRPr sz="1600"/>
          </a:p>
          <a:p>
            <a:pPr indent="-320000" lvl="0" marL="42000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Injected into session context — no new tools, no fine-tuning required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88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i="1" lang="en-US" sz="1700">
                <a:solidFill>
                  <a:srgbClr val="4E008E"/>
                </a:solidFill>
              </a:rPr>
              <a:t>Analogy: the agent already knows how to cook — the skill gives it a recipe so every weekly report comes out the same.</a:t>
            </a:r>
            <a:endParaRPr/>
          </a:p>
        </p:txBody>
      </p:sp>
      <p:sp>
        <p:nvSpPr>
          <p:cNvPr id="294" name="Google Shape;294;p40"/>
          <p:cNvSpPr txBox="1"/>
          <p:nvPr>
            <p:ph idx="12" type="sldNum"/>
          </p:nvPr>
        </p:nvSpPr>
        <p:spPr>
          <a:xfrm>
            <a:off x="8620348" y="6489701"/>
            <a:ext cx="37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1"/>
          <p:cNvSpPr txBox="1"/>
          <p:nvPr>
            <p:ph type="title"/>
          </p:nvPr>
        </p:nvSpPr>
        <p:spPr>
          <a:xfrm>
            <a:off x="525600" y="911723"/>
            <a:ext cx="8208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Key Design #3 — Parallel Multi-Agent Orchestration</a:t>
            </a:r>
            <a:endParaRPr/>
          </a:p>
        </p:txBody>
      </p:sp>
      <p:sp>
        <p:nvSpPr>
          <p:cNvPr id="300" name="Google Shape;300;p41"/>
          <p:cNvSpPr txBox="1"/>
          <p:nvPr>
            <p:ph idx="1" type="body"/>
          </p:nvPr>
        </p:nvSpPr>
        <p:spPr>
          <a:xfrm>
            <a:off x="468000" y="2043702"/>
            <a:ext cx="8208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8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i="1" lang="en-US" sz="1700">
                <a:solidFill>
                  <a:srgbClr val="4E008E"/>
                </a:solidFill>
              </a:rPr>
              <a:t>Lead agent spawns independent subagents; results combined via shared filesystem</a:t>
            </a:r>
            <a:endParaRPr/>
          </a:p>
          <a:p>
            <a:pPr indent="0" lvl="0" marL="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/>
              <a:t>Example: </a:t>
            </a:r>
            <a:endParaRPr sz="1600"/>
          </a:p>
          <a:p>
            <a:pPr indent="-330200" lvl="0" marL="45720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Lead agent calls research_agent with N tasks</a:t>
            </a:r>
            <a:endParaRPr sz="1600"/>
          </a:p>
          <a:p>
            <a:pPr indent="-330200" lvl="0" marL="4572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Each task runs as an independent LangGraph graph </a:t>
            </a:r>
            <a:endParaRPr sz="1600"/>
          </a:p>
          <a:p>
            <a:pPr indent="-330200" lvl="0" marL="4572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Coroutines launched with asyncio.gather() in parallel </a:t>
            </a:r>
            <a:endParaRPr sz="1600"/>
          </a:p>
          <a:p>
            <a:pPr indent="-330200" lvl="0" marL="4572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Each subagent writes CSV results to shared filesystem </a:t>
            </a:r>
            <a:endParaRPr sz="1600"/>
          </a:p>
          <a:p>
            <a:pPr indent="-330200" lvl="0" marL="4572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Lead agent combines CSVs and generates final report</a:t>
            </a:r>
            <a:endParaRPr sz="1600"/>
          </a:p>
        </p:txBody>
      </p:sp>
      <p:sp>
        <p:nvSpPr>
          <p:cNvPr id="301" name="Google Shape;301;p41"/>
          <p:cNvSpPr txBox="1"/>
          <p:nvPr>
            <p:ph idx="12" type="sldNum"/>
          </p:nvPr>
        </p:nvSpPr>
        <p:spPr>
          <a:xfrm>
            <a:off x="8620348" y="6489701"/>
            <a:ext cx="37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UNI Theme">
  <a:themeElements>
    <a:clrScheme name="TUNI-teema-pp">
      <a:dk1>
        <a:srgbClr val="000000"/>
      </a:dk1>
      <a:lt1>
        <a:srgbClr val="FFFFFF"/>
      </a:lt1>
      <a:dk2>
        <a:srgbClr val="4E008E"/>
      </a:dk2>
      <a:lt2>
        <a:srgbClr val="FFFFFF"/>
      </a:lt2>
      <a:accent1>
        <a:srgbClr val="4E008E"/>
      </a:accent1>
      <a:accent2>
        <a:srgbClr val="38B399"/>
      </a:accent2>
      <a:accent3>
        <a:srgbClr val="FFE349"/>
      </a:accent3>
      <a:accent4>
        <a:srgbClr val="CF286F"/>
      </a:accent4>
      <a:accent5>
        <a:srgbClr val="000000"/>
      </a:accent5>
      <a:accent6>
        <a:srgbClr val="79C0EB"/>
      </a:accent6>
      <a:hlink>
        <a:srgbClr val="0041BE"/>
      </a:hlink>
      <a:folHlink>
        <a:srgbClr val="CF28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